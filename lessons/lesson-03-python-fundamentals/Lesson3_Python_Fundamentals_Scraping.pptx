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image" Target="../media/image-19-1.png"/><Relationship Id="rId6" Type="http://schemas.openxmlformats.org/officeDocument/2006/relationships/image" Target="../media/image-1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image" Target="../media/image-23-1.png"/><Relationship Id="rId6" Type="http://schemas.openxmlformats.org/officeDocument/2006/relationships/image" Target="../media/image-2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image" Target="../media/image-24-1.png"/><Relationship Id="rId5" Type="http://schemas.openxmlformats.org/officeDocument/2006/relationships/image" Target="../media/image-2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MATHEMATICS PYTHON COURSE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Fundamentals via Web Scraping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Live Session   •   Virtual Lecture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555480" y="4297680"/>
            <a:ext cx="1554480" cy="15544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ic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46863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Warm-Up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refined prompts to today's working method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ro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037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488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Lesson 2 Homework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328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the output when students refined their prompts?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list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529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74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Plan / Code / Review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58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working method — plan first, let AI code, review every line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7091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pyth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554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8006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Python Fundamentals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846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annotate real code, then scrape live financial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Fundamentals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control flow, functions, and how memory really works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PYTHON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Data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building blocks you'll use in every script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87168" cy="1353312"/>
          </a:xfrm>
          <a:prstGeom prst="roundRect">
            <a:avLst>
              <a:gd name="adj" fmla="val 405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21945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096" y="2596896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"AAPL". Immutable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7722" y="2011680"/>
            <a:ext cx="2487168" cy="1353312"/>
          </a:xfrm>
          <a:prstGeom prst="roundRect">
            <a:avLst>
              <a:gd name="adj" fmla="val 405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7178" y="21945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37178" y="2596896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 — 100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86805" y="2011680"/>
            <a:ext cx="2487168" cy="1353312"/>
          </a:xfrm>
          <a:prstGeom prst="roundRect">
            <a:avLst>
              <a:gd name="adj" fmla="val 405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6261" y="21945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06261" y="2596896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 — 99.95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55887" y="2011680"/>
            <a:ext cx="2487168" cy="1353312"/>
          </a:xfrm>
          <a:prstGeom prst="roundRect">
            <a:avLst>
              <a:gd name="adj" fmla="val 405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75343" y="21945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75343" y="2596896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2487168" cy="1353312"/>
          </a:xfrm>
          <a:prstGeom prst="roundRect">
            <a:avLst>
              <a:gd name="adj" fmla="val 405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" y="37673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8096" y="4169664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 — [1, 2, 3]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17722" y="3584448"/>
            <a:ext cx="2487168" cy="1353312"/>
          </a:xfrm>
          <a:prstGeom prst="roundRect">
            <a:avLst>
              <a:gd name="adj" fmla="val 405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37178" y="37673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37178" y="4169664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value — {"px": 100}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86805" y="3584448"/>
            <a:ext cx="2487168" cy="1353312"/>
          </a:xfrm>
          <a:prstGeom prst="roundRect">
            <a:avLst>
              <a:gd name="adj" fmla="val 405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06261" y="37673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06261" y="4169664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 — (x, y)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55887" y="3584448"/>
            <a:ext cx="2487168" cy="1353312"/>
          </a:xfrm>
          <a:prstGeom prst="roundRect">
            <a:avLst>
              <a:gd name="adj" fmla="val 405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75343" y="37673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75343" y="4169664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unordered — {1, 2}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IN FINANCE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+ 0.2 ≠ 0.3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697480"/>
          </a:xfrm>
          <a:prstGeom prst="roundRect">
            <a:avLst>
              <a:gd name="adj" fmla="val 1017"/>
            </a:avLst>
          </a:prstGeom>
          <a:solidFill>
            <a:srgbClr val="1B1E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85623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85623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13432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0.30000000000000004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 == 0.3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33695" cy="2697480"/>
          </a:xfrm>
          <a:prstGeom prst="roundRect">
            <a:avLst>
              <a:gd name="adj" fmla="val 2034"/>
            </a:avLst>
          </a:prstGeom>
          <a:solidFill>
            <a:srgbClr val="FBEEEE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7104" y="183794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ic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3174" y="1944014"/>
            <a:ext cx="318211" cy="31821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42048" y="1911096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8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29400" y="265176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 are stored in binary and can't represent every decimal exactly. Across thousands of pricing calculations, tiny errors accumulate.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4526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 </a:t>
            </a:r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round(), the decimal module, or compare with a tolerance — never == on floats.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PYTHON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 &amp;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snippets — you'll recognize the shapes everywhere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49240" cy="3200400"/>
          </a:xfrm>
          <a:prstGeom prst="roundRect">
            <a:avLst>
              <a:gd name="adj" fmla="val 857"/>
            </a:avLst>
          </a:prstGeom>
          <a:solidFill>
            <a:srgbClr val="1B1E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54203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54203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54203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99232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px in prices: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px &gt; 100: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tag = "rich"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tag = "cheap"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print(px, tag)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91072" y="2286000"/>
            <a:ext cx="5349240" cy="3200400"/>
          </a:xfrm>
          <a:prstGeom prst="roundRect">
            <a:avLst>
              <a:gd name="adj" fmla="val 857"/>
            </a:avLst>
          </a:prstGeom>
          <a:solidFill>
            <a:srgbClr val="1B1E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65392" y="254203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839712" y="254203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254203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48272" y="2999232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present_value(cf, r, t):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"""Discount a cash flow."""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cf / (1 + r) ** 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present_value(100, 0.05, 2)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90.70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PYTHON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/ except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important the moment you start scraping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852160" cy="2926080"/>
          </a:xfrm>
          <a:prstGeom prst="roundRect">
            <a:avLst>
              <a:gd name="adj" fmla="val 938"/>
            </a:avLst>
          </a:prstGeom>
          <a:solidFill>
            <a:srgbClr val="1B1E2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8483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08483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08483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42032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= float(cell.text)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= None   # skip bad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# rows, keep going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1965960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 code that might fail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2880360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 specific error and respond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3794760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pages are full of missing and malformed values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PYTHON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Mutable vs Immutable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93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 · ints · floats · tuples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changed in place. Every “change” actually creates a brand-new object.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91072" y="169164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_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0574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1993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Mutable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11112" y="2788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lists · dicts · sets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611112" y="32004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changed in place. Same object in memory, just modified.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66344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BEEEE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4380" y="4846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ic_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" y="4951933"/>
            <a:ext cx="291694" cy="2916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75488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mutable object into a function and it can be changed unexpectedly — a classic source of bugs.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PYTHON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Python Remembers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Intuition, not CS theory — but these ideas produce real “aha” moments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494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94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are references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78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points to an object — it isn't the box that holds 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co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529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74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vs reference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58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list_b = list_a does NOT copy — both names point to the same list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6634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0974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754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vs heap (intuition)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38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names live on the stack; the objects they point to live on the heap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PYTHON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out loud — they surface in technical and behavioral screens alike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18004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46119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list and a tuple?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342132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9" y="3485327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“mutable” mean, and why does it matter?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79" y="450945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8853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assign a list to a new variable?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53903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" y="5533583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312664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function, and why do we use them?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POINT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09590" y="182880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490" y="21717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Break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434340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and reset — after the break we go live and scrape real financial data off the web.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~10 minutes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sp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Scraping with BeautifulSoup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real financial data off the web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WEB SCRAPING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Web Scraping?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data a website shows you but won't hand over as a clean file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494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94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data from web pages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78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tables and values embedded in a page's HTML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529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74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for quant work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58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rates, bond yields, prices — data you need but can't download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6634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0974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754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it responsibly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38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each site's rate limits and terms of service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WEB SCRAPING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BeautifulSoup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80844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80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08760" y="20939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import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94960" y="2093976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beautifulsoup4 requests, then import both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204972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49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31181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the page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3118104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requests.get(url) pulls the raw HTML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2910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91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08760" y="4142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&amp; select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4142232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finds the table, its rows, and cells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38344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253228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532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08760" y="5166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the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5166360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to a CSV for use in Lesson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PLAN / CODE /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Scrape a Table of Yields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3977640"/>
          </a:xfrm>
          <a:prstGeom prst="roundRect">
            <a:avLst>
              <a:gd name="adj" fmla="val 690"/>
            </a:avLst>
          </a:prstGeom>
          <a:solidFill>
            <a:srgbClr val="1B1E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76479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76479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21992"/>
            <a:ext cx="1027145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requests, csv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bs4 import BeautifulSoup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= requests.get(URL, timeout=10).text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soup = BeautifulSoup(html, "html.parser")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tr in soup.select("table.rates tr")[1:]: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cells = [td.text.strip() for td in tr.find_all("td")]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rows.append(cells)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open("yields.csv", "w", newline="") as f: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csv.writer(f).writerows(rows)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Claude to draft it — then read and review every line together before running.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WEB SCRAPING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scraper today can break tomorrow — plan for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494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94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site changes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78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selectors break the moment the page's HTML layout shifts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sw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529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74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mid-scrape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58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cells and timeouts — wrap risky parsing in try / except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6634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0974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754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38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requests too fast can get you blocked — be polite, add delays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WEB SCRAPING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out loud — they surface in technical and behavioral screens alike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18004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46119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web scraping, and when is it the right tool?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342132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9" y="3485327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make a scraper robust to missing or malformed data?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79" y="450945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8853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break a scraper that worked perfectly yesterday?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53903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" y="5533583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312664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to scrape responsibly?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Angle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today's concepts into interview-ready answers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TODAY'S TOPICS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 first — then use Claude to demonstrate strong answers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2" y="2547336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list and a tuple?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9040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59" y="254733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3128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mutable mean, and why does it matter?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8952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2" y="3754344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assign a list to a new variable?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78728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9040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59" y="3754344"/>
            <a:ext cx="227137" cy="2271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93128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try / except do, and when would you use it?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ic_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72" y="4961352"/>
            <a:ext cx="227137" cy="2271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list and a dict?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278728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89040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ic_qu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359" y="4961352"/>
            <a:ext cx="227137" cy="2271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93128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function, and why do we use them?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ANSWER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Clearly Under Pressure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say it matters as much as what you know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494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94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the direct answer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78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difference first, then explain — don't ramble toward the point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529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74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probe understanding, not syntax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58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copying separate people who memorized from people who understand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6634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0974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754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with Claude as interviewer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38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it quiz you on today's topics, then critique your answers together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7373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_s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8366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Homework: Extend Your Scraper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2128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one more data point, save a clean CSV, and push it to GitHub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" y="31089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_ro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25526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00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Using Plan / Code / Review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5844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two spots where AI helped and one where you had to step 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" y="44805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62686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5720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4: NumPy, Pandas &amp; Analysis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956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load the CSV you scraped today and start analyzing it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— IF TIME REMAINS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Quick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patterns worth having in muscle memory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49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squared = [x*x for x in nums]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2103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249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dict 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53048" y="2606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= data.get("AAPL", 0)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392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f-strings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f"{ticker}: {price:.2f}"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3246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3392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53048" y="3749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last3 = prices[-3:]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535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v in enumerate(rows):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4389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53048" y="4535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53048" y="4892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a, b in zip(dates, px):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RAPID-FIRE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reps — quick answers, no notes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2" y="2547336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output of 0.1 + 0.2?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9040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59" y="254733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3128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immutable types.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8952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2" y="3754344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copy a list so the original is safe?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78728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9040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59" y="3754344"/>
            <a:ext cx="227137" cy="2271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93128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enumerate() give you?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ic_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72" y="4961352"/>
            <a:ext cx="227137" cy="2271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use a set instead of a list?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278728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89040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ic_qu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359" y="4961352"/>
            <a:ext cx="227137" cy="2271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93128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KeyError, and how do you avoid it?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— IF TIME REMAINS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Python Gotchas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bugs that catch almost everyone at least once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03704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7" name="Image 0" descr="ic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318004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945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equality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+ 0.2 == 0.3 is False — compare with a tolerance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89504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990088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11" name="Image 1" descr="ic_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310438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980944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default args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f(x=[]) reuses the same list across calls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67588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776472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15" name="Image 2" descr="ic_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89077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67328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while looping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modify a list you're iterating over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462272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" y="4562856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19" name="Image 3" descr="ic_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467715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553712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vs float division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 is 1.5, but 3 // 2 is 1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5248656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23" name="Image 4" descr="ic_wa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54635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5340096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in range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range(1, 5) stops at 4, not 5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— IF TIME REMAINS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Scraping Challenges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 who finish early or want to push further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305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a second table and merge the two datasets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862072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4378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retry logic with a short delay between requests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575304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57016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 page where some rows are missing cells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288536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27024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dates into one consistent format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001768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9834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with a header row and a timestamped filename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2026-07-26T15:52:24Z</dcterms:created>
  <dcterms:modified xsi:type="dcterms:W3CDTF">2026-07-26T15:52:24Z</dcterms:modified>
</cp:coreProperties>
</file>
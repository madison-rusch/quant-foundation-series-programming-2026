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0" r:id="rId51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introduction. Keep it to ~60-90 seconds: name, the math/CS + Financial Mathematics path, and current role building software at a fixed-income hedge fund. Tie it back to the course — this blend of quant background and real engineering is exactly the Plan / Code / Review workflow we'll practice together. Then hand straight into 'Who This Course Is For.'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1.png"/><Relationship Id="rId4" Type="http://schemas.openxmlformats.org/officeDocument/2006/relationships/image" Target="../media/image-2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1.png"/><Relationship Id="rId3" Type="http://schemas.openxmlformats.org/officeDocument/2006/relationships/image" Target="../media/image-34-1.png"/><Relationship Id="rId4" Type="http://schemas.openxmlformats.org/officeDocument/2006/relationships/image" Target="../media/image-3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1.png"/><Relationship Id="rId3" Type="http://schemas.openxmlformats.org/officeDocument/2006/relationships/image" Target="../media/image-44-1.png"/><Relationship Id="rId4" Type="http://schemas.openxmlformats.org/officeDocument/2006/relationships/image" Target="../media/image-4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48640"/>
            <a:ext cx="73152" cy="73152"/>
          </a:xfrm>
          <a:prstGeom prst="ellipse">
            <a:avLst/>
          </a:prstGeom>
          <a:solidFill>
            <a:srgbClr val="3A4380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548640"/>
            <a:ext cx="73152" cy="73152"/>
          </a:xfrm>
          <a:prstGeom prst="ellipse">
            <a:avLst/>
          </a:prstGeom>
          <a:solidFill>
            <a:srgbClr val="3A4380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548640"/>
            <a:ext cx="73152" cy="73152"/>
          </a:xfrm>
          <a:prstGeom prst="ellipse">
            <a:avLst/>
          </a:prstGeom>
          <a:solidFill>
            <a:srgbClr val="3A4380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1005840"/>
            <a:ext cx="73152" cy="73152"/>
          </a:xfrm>
          <a:prstGeom prst="ellipse">
            <a:avLst/>
          </a:prstGeom>
          <a:solidFill>
            <a:srgbClr val="3A4380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0" y="1005840"/>
            <a:ext cx="73152" cy="73152"/>
          </a:xfrm>
          <a:prstGeom prst="ellipse">
            <a:avLst/>
          </a:prstGeom>
          <a:solidFill>
            <a:srgbClr val="3A4380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1005840"/>
            <a:ext cx="73152" cy="73152"/>
          </a:xfrm>
          <a:prstGeom prst="ellipse">
            <a:avLst/>
          </a:prstGeom>
          <a:solidFill>
            <a:srgbClr val="3A438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MATHEMATICS PYTHON COURSE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Environment &amp; Git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Live Session  •  Virtual Lecture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92640" y="3657600"/>
            <a:ext cx="1554480" cy="15544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5" name="Image 0" descr="icons/codebranch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15" y="4030675"/>
            <a:ext cx="808330" cy="808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Course Is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starting points, one classroom — mixed backgrounds are the asset, not the obstacle.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3794760"/>
          </a:xfrm>
          <a:prstGeom prst="roundRect">
            <a:avLst>
              <a:gd name="adj" fmla="val 241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s/filecod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6554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68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Coders Without AI Experience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2935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writing code, new to working alongside AI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44348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know how to read &amp; write code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agentic tools like Claude Code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build fluency in the Plan / Code / Review workflow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89320" y="2148840"/>
            <a:ext cx="5166360" cy="3794760"/>
          </a:xfrm>
          <a:prstGeom prst="roundRect">
            <a:avLst>
              <a:gd name="adj" fmla="val 241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24688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s/pytho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898" y="265541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468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“Vibe Coders” Who Need Python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223760" y="2935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directing AI, need core language fundamentals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355080" y="3566160"/>
            <a:ext cx="44348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used AI to generate working code before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confident reading or debugging Python directly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build the fundamentals AI shortcuts can hide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note: set this tone explicitly in the opening — no one in the room is behind.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1 — Session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rocket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6923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0876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18541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F8FC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227685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s/codebranch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2" y="2369028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185416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286207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F8FC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29535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s/filecode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045684"/>
            <a:ext cx="199705" cy="1997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86207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vs. Notebooks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53872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4E2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icons/comments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3722340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538728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Room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692640" y="353872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9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MID-SESSION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21538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F8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85800" y="43068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icons/layergroup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72" y="4398996"/>
            <a:ext cx="199705" cy="19970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4215384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F8FC"/>
          </a:solidFill>
          <a:ln/>
        </p:spPr>
      </p:sp>
      <p:sp>
        <p:nvSpPr>
          <p:cNvPr id="26" name="Shape 19"/>
          <p:cNvSpPr/>
          <p:nvPr/>
        </p:nvSpPr>
        <p:spPr>
          <a:xfrm>
            <a:off x="685800" y="49834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icons/python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972" y="5075652"/>
            <a:ext cx="199705" cy="19970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48920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Orientation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548640" y="556869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F8FC"/>
          </a:solidFill>
          <a:ln/>
        </p:spPr>
      </p:sp>
      <p:sp>
        <p:nvSpPr>
          <p:cNvPr id="30" name="Shape 22"/>
          <p:cNvSpPr/>
          <p:nvPr/>
        </p:nvSpPr>
        <p:spPr>
          <a:xfrm>
            <a:off x="685800" y="56601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6" descr="icons/bug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972" y="5752308"/>
            <a:ext cx="199705" cy="19970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34440" y="5568696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in VS Code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Setup Recap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students at least 2 days before Lesson 1. Quick show-of-hands check-in as we open.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6F8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95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GitHub account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2395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14884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6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3375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for VS Code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72200" y="333756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F6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28232" y="35844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333756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4E2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956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0" descr="icons/clipboard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5131613"/>
            <a:ext cx="380390" cy="38039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828800" y="4709160"/>
            <a:ext cx="9235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note: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backup plan ready — e.g. a browser-based IDE — for anyone who couldn't complete installs.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Tone, Introduce the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user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0720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2880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“What's your background?”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20240" y="233172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show of hands: Math / CS / Stats / Finance — set a collaborative tone. Mixed backgrounds are an asset, not a gap to close.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920240" y="29718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920240" y="29718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9718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29718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29718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29718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29718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29718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8" name="Shape 15"/>
          <p:cNvSpPr/>
          <p:nvPr/>
        </p:nvSpPr>
        <p:spPr>
          <a:xfrm>
            <a:off x="868680" y="4270248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1" descr="icons/questio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4467758"/>
            <a:ext cx="427939" cy="4279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920240" y="423367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the GitHub Issues Process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920240" y="4709160"/>
            <a:ext cx="9052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repo has an Issues section for the whole course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questions, topics to revisit, or anything confusing as issues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before each lesson — directly shapes the Lesson 5 student-driven block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too small — this is a running log, not an exam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74320"/>
            <a:ext cx="3931920" cy="2377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codebranch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487168" y="30632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fundamentals every quant needs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GIT &amp; GITHUB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Terminology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288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25856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folder Git tracks — full history included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5087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6F8FC"/>
          </a:solidFill>
          <a:ln/>
        </p:spPr>
      </p:sp>
      <p:sp>
        <p:nvSpPr>
          <p:cNvPr id="9" name="Shape 7"/>
          <p:cNvSpPr/>
          <p:nvPr/>
        </p:nvSpPr>
        <p:spPr>
          <a:xfrm>
            <a:off x="4407408" y="170992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4407408" y="18288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07408" y="225856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line of work off the main codebase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5087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6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065008" y="170992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065008" y="18288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65008" y="225856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snapshot of changes, with a message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6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31012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4290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385876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local commits up to GitHub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3108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6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331012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407408" y="34290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07408" y="385876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latest changes down from GitHub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3108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6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065008" y="331012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8065008" y="342900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 (PR)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65008" y="385876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to merge your branch into main — with review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Walkthrough: Clone → Change → Commit → Push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3931920"/>
          </a:xfrm>
          <a:prstGeom prst="roundRect">
            <a:avLst>
              <a:gd name="adj" fmla="val 2791"/>
            </a:avLst>
          </a:prstGeom>
          <a:solidFill>
            <a:srgbClr val="14172B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350008"/>
            <a:ext cx="164592" cy="164592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7" name="Shape 5"/>
          <p:cNvSpPr/>
          <p:nvPr/>
        </p:nvSpPr>
        <p:spPr>
          <a:xfrm>
            <a:off x="1344168" y="2350008"/>
            <a:ext cx="164592" cy="164592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8" name="Shape 6"/>
          <p:cNvSpPr/>
          <p:nvPr/>
        </p:nvSpPr>
        <p:spPr>
          <a:xfrm>
            <a:off x="1636776" y="2350008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2585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— switch screen share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9784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5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https://github.com/madison-rusch/quant-foundation-series-programming-2026.git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quant-foundation-series-programming-2026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your-name-branch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a small change to a file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"first commit: environment check"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your-name-branch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screen share to VS Code — narrate each step as you type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GIT &amp; GITHUB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Use Branches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stays stable. Each person's work happens on its own branch until it's reviewed and merged.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969264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49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3108960"/>
            <a:ext cx="0" cy="109728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3108960"/>
            <a:ext cx="146304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27832" y="304495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690872" y="304495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feature/debug-fix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27832" y="414223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3108960"/>
            <a:ext cx="0" cy="109728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3108960"/>
            <a:ext cx="1463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71032" y="30449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7434072" y="30449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feature/orientation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71032" y="414223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8240" y="3108960"/>
            <a:ext cx="0" cy="109728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3108960"/>
            <a:ext cx="1463040" cy="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14232" y="3044952"/>
            <a:ext cx="128016" cy="12801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77272" y="3044952"/>
            <a:ext cx="128016" cy="12801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FA8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feature/env-setup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714232" y="414223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6235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student's homework fix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its own branch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is exactly the PR workflow used in the post-class assignment.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GIT &amp; GITHUB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show up often in technical screens and behavioral interviews alike.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03120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s/question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2208459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Git and GitHub?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8254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962656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questio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306799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2549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merge conflict, and what causes one?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6850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3822192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question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3927531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8503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merge and rebase?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454456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" y="4681728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s/question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1" y="4787067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4456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teams use pull requests instead of pushing straight to main?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a merge conflict and how do you resolve one?”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it plainly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1584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9" name="Text 7"/>
          <p:cNvSpPr/>
          <p:nvPr/>
        </p:nvSpPr>
        <p:spPr>
          <a:xfrm>
            <a:off x="4456176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56176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4528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12" name="Text 10"/>
          <p:cNvSpPr/>
          <p:nvPr/>
        </p:nvSpPr>
        <p:spPr>
          <a:xfrm>
            <a:off x="8199120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99120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fix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2514600"/>
          </a:xfrm>
          <a:prstGeom prst="roundRect">
            <a:avLst>
              <a:gd name="adj" fmla="val 4364"/>
            </a:avLst>
          </a:prstGeom>
          <a:solidFill>
            <a:srgbClr val="161B4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spoken answer might sound like: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merge conflict happens when two branches change the same lines of the same file in different ways, and Git can't automatically decide which change wins. To fix it, I open the file, look at the conflict markers Git inserts, decide which version — or combination — is correct, remove the markers, then commit the resolved file.”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GIT &amp; GITHUB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Like the Real 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2880360"/>
          </a:xfrm>
          <a:prstGeom prst="roundRect">
            <a:avLst>
              <a:gd name="adj" fmla="val 3175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explaining branch/commit/push/pull out loud, in one sentence each — interviewers listen for clarity, not jargon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your own PR from Lesson 1's homework as if presenting it to a reviewer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a scenario question, not just definitions: “your teammate force-pushed over your branch — what do you do?”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4E2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956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icons/comment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5131613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709160"/>
            <a:ext cx="9235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with Claude: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quiz you on today's topic, answer out loud, then ask it to critique your answer — the same mock-interview pattern we build on in later lessons.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74320"/>
            <a:ext cx="3931920" cy="2377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filecod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 vs. Jupyter Notebooks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487168" y="30632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 for the job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SCRIPTS VS. NOTEBOOKS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Which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.py Script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&amp; production-ready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434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top to bottom, same result every time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well with version control — clean diffs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production pipelines &amp; reusable tools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explore data interactively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89320" y="155448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6F8FC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.ipynb Notebook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09360" y="22677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&amp; exploratory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2788920"/>
            <a:ext cx="4434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cells out of order — great for exploring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code, output, and notes in one place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analysis, visualization, prototyping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get messy — risk of hidden execution order bugs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SCRIPTS VS. NOTEBOOKS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show up often in technical screens and behavioral interviews alike.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03120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s/question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2208459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a .py script over a notebook for production?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8254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962656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questio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306799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2549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common downside of Jupyter notebooks on a team?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6850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3822192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question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3927531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8503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“hidden state” in a notebook, and why is it risky?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454456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" y="4681728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s/question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1" y="4787067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4456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notebooks complicate code review and version control?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do teams avoid deploying notebooks straight to production?”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risk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1584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9" name="Text 7"/>
          <p:cNvSpPr/>
          <p:nvPr/>
        </p:nvSpPr>
        <p:spPr>
          <a:xfrm>
            <a:off x="4456176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56176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mechanism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4528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12" name="Text 10"/>
          <p:cNvSpPr/>
          <p:nvPr/>
        </p:nvSpPr>
        <p:spPr>
          <a:xfrm>
            <a:off x="8199120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99120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fix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2514600"/>
          </a:xfrm>
          <a:prstGeom prst="roundRect">
            <a:avLst>
              <a:gd name="adj" fmla="val 4364"/>
            </a:avLst>
          </a:prstGeom>
          <a:solidFill>
            <a:srgbClr val="161B4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spoken answer might sound like: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“Notebooks let you run cells out of order, so the notebook's visible state can drift from what a fresh top-to-bottom run would actually produce — that's hidden state. In production you need the same result every time, so teams convert the logic into a script that always runs sequentially, and keep the notebook for exploration only.”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SCRIPTS VS. NOTEBOOKS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Like the Real 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2880360"/>
          </a:xfrm>
          <a:prstGeom prst="roundRect">
            <a:avLst>
              <a:gd name="adj" fmla="val 3175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justify a tool choice, not just describe it — interviewers want your reasoning, not a definition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you've only used notebooks, practice narrating how you'd convert one into a clean script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reproducibility explicitly — it's the word interviewers are often listening for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4E2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956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icons/comment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5131613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709160"/>
            <a:ext cx="9235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with Claude: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quiz you on today's topic, answer out loud, then ask it to critique your answer — the same mock-interview pattern we build on in later lessons.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A327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icons/comment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79222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146304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 Room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532888" y="2240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to try what we've covered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063240"/>
            <a:ext cx="10515600" cy="3063240"/>
          </a:xfrm>
          <a:prstGeom prst="roundRect">
            <a:avLst>
              <a:gd name="adj" fmla="val 3582"/>
            </a:avLst>
          </a:prstGeom>
          <a:solidFill>
            <a:srgbClr val="161B45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337560"/>
            <a:ext cx="9784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unstructured time to try what we've just covered — clone, branch, commit, or just poke around VS Code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is as much social as technical: meet a few classmates before we go deeper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 groups (4–6 people) — some students may not have joined yet, or may self-assign into a room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task — low pressure, low stakes; regroup and share anything interesting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74320"/>
            <a:ext cx="3931920" cy="2377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layergroup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Virtual Environments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487168" y="30632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dependencies, project by project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VIRTUAL ENVIRONMENTS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&amp;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932688"/>
          </a:xfrm>
          <a:prstGeom prst="roundRect">
            <a:avLst>
              <a:gd name="adj" fmla="val 784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9222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71800" y="1554480"/>
            <a:ext cx="8092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Python install just for one project — its own packages, isolated from everything else on your machine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698480" cy="932688"/>
          </a:xfrm>
          <a:prstGeom prst="roundRect">
            <a:avLst>
              <a:gd name="adj" fmla="val 7843"/>
            </a:avLst>
          </a:prstGeom>
          <a:solidFill>
            <a:srgbClr val="F6F8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8950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8950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71800" y="2651760"/>
            <a:ext cx="8092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projects need different (sometimes conflicting) package versions — environments prevent them from colliding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0698480" cy="932688"/>
          </a:xfrm>
          <a:prstGeom prst="roundRect">
            <a:avLst>
              <a:gd name="adj" fmla="val 7843"/>
            </a:avLst>
          </a:prstGeom>
          <a:solidFill>
            <a:srgbClr val="F6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98678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8678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71800" y="3749040"/>
            <a:ext cx="8092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Code: open the Command Palette → Python: Create Environment → select .venv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0698480" cy="932688"/>
          </a:xfrm>
          <a:prstGeom prst="roundRect">
            <a:avLst>
              <a:gd name="adj" fmla="val 7843"/>
            </a:avLst>
          </a:prstGeom>
          <a:solidFill>
            <a:srgbClr val="F6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084064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8406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packages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71800" y="4846320"/>
            <a:ext cx="8092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environment, then pip install &lt;package&gt; — installs stay scoped to this project only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&amp; Activate a Virtual Environment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3931920"/>
          </a:xfrm>
          <a:prstGeom prst="roundRect">
            <a:avLst>
              <a:gd name="adj" fmla="val 2791"/>
            </a:avLst>
          </a:prstGeom>
          <a:solidFill>
            <a:srgbClr val="14172B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350008"/>
            <a:ext cx="164592" cy="164592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7" name="Shape 5"/>
          <p:cNvSpPr/>
          <p:nvPr/>
        </p:nvSpPr>
        <p:spPr>
          <a:xfrm>
            <a:off x="1344168" y="2350008"/>
            <a:ext cx="164592" cy="164592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8" name="Shape 6"/>
          <p:cNvSpPr/>
          <p:nvPr/>
        </p:nvSpPr>
        <p:spPr>
          <a:xfrm>
            <a:off x="1636776" y="2350008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2585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— switch screen share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9784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5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Ctrl+Shift+P → "Python: Create Environment"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Select: Venv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Select interpreter: Python 3.x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VS Code activates it automatically in the integrated terminal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pandas numpy matplotlib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list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screen share to VS Code — show the (.venv) prefix appear in the terminal prompt.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VIRTUAL ENVIRONMENTS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Wider Landscape: Other Package Managers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+ pip is what we use in this course — but you'll see these names elsewhere. Recognition only.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venv + pip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Python itself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27889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Python — no extra install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environment per project, lightweight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installs from PyPI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96596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6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2194560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194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DATA SCIENCE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80560" y="3136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/ Miniconda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3657600"/>
            <a:ext cx="27889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Python itself, plus non-Python libraries (C, R, CUDA)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in scientific computing &amp; quant research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install / conda create -n envname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196596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6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092440" y="2194560"/>
            <a:ext cx="29718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2194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TOOLING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3816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Poetry &amp; uv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38160" y="3136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dependency managers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83880" y="3657600"/>
            <a:ext cx="27889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files pin exact versions for reproducibility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packaging and publishing projects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fast — uv is a newer, much faster alternative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2636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likely run into conda (or a Poetry/uv-managed project) in research or industry — knowing the name and roughly what it does is enough for now.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VIRTUAL ENVIRONMENTS &amp; PACKAGES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show up often in technical screens and behavioral interviews alike.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03120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s/question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2208459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virtual environments at all?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8254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962656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questio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306799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2549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dependency isolation actually solve?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6850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3822192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question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3927531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8503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pip and conda?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454456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" y="4681728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s/question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1" y="4787067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4456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requirements.txt or lock file used for?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problem do virtual environments solve?”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risk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1584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9" name="Text 7"/>
          <p:cNvSpPr/>
          <p:nvPr/>
        </p:nvSpPr>
        <p:spPr>
          <a:xfrm>
            <a:off x="4456176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56176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concrete example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4528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12" name="Text 10"/>
          <p:cNvSpPr/>
          <p:nvPr/>
        </p:nvSpPr>
        <p:spPr>
          <a:xfrm>
            <a:off x="8199120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99120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2514600"/>
          </a:xfrm>
          <a:prstGeom prst="roundRect">
            <a:avLst>
              <a:gd name="adj" fmla="val 4364"/>
            </a:avLst>
          </a:prstGeom>
          <a:solidFill>
            <a:srgbClr val="161B4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spoken answer might sound like: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“Different projects often need different, sometimes conflicting, versions of the same package — one project might need an older pandas than another. A virtual environment gives each project its own isolated set of installed packages, so upgrading one project never silently breaks another.”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VIRTUAL ENVIRONMENTS &amp; PACKAGES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Like the Real 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2880360"/>
          </a:xfrm>
          <a:prstGeom prst="roundRect">
            <a:avLst>
              <a:gd name="adj" fmla="val 3175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may just ask “walk me through your setup” — practice narrating clone → venv → install in under 30 seconds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conda exists (even without using it) shows breadth — mention it if asked about alternatives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explain why requirements.txt matters for reproducing someone else's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4E2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956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icons/comment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5131613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709160"/>
            <a:ext cx="9235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with Claude: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quiz you on today's topic, answer out loud, then ask it to critique your answer — the same mock-interview pattern we build on in later lessons.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74320"/>
            <a:ext cx="3931920" cy="2377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python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Orientation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487168" y="30632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to make the homework approachable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PYTHON 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Script: Key Landmarks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4206240"/>
          </a:xfrm>
          <a:prstGeom prst="roundRect">
            <a:avLst>
              <a:gd name="adj" fmla="val 2174"/>
            </a:avLst>
          </a:prstGeom>
          <a:solidFill>
            <a:srgbClr val="14172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 = 1000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0.05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= 3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future_value(p, r, t):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 * (1 + r) ** 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future_value(principal, rate, years)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print(f"Future value: {result:.2f}")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3720" y="1508760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F6F8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9202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extra tools the script needs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2560320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9718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values the script works with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3611880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F6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40233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that take inputs, return outputs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4663440"/>
            <a:ext cx="4343400" cy="896112"/>
          </a:xfrm>
          <a:prstGeom prst="roundRect">
            <a:avLst>
              <a:gd name="adj" fmla="val 8163"/>
            </a:avLst>
          </a:prstGeom>
          <a:solidFill>
            <a:srgbClr val="F6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4754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50749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shows results while the script runs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97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recognition, not mastery. Full Python fundamentals are covered in Lesson 3.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READING PYTHON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show up often in technical screens and behavioral interviews alike.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03120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s/question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2208459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walk me through what this function does?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8254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962656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questio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306799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2549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interviewers often hand you code to read, not just write?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6850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3822192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question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3927531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8503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function's return value and a print() statement?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454456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" y="4681728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s/question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1" y="4787067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4456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check first if you didn't recognize a piece of code?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would you walk an interviewer through an unfamiliar function?”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purpose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1584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9" name="Text 7"/>
          <p:cNvSpPr/>
          <p:nvPr/>
        </p:nvSpPr>
        <p:spPr>
          <a:xfrm>
            <a:off x="4456176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56176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inputs → logic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4528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12" name="Text 10"/>
          <p:cNvSpPr/>
          <p:nvPr/>
        </p:nvSpPr>
        <p:spPr>
          <a:xfrm>
            <a:off x="8199120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99120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output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2514600"/>
          </a:xfrm>
          <a:prstGeom prst="roundRect">
            <a:avLst>
              <a:gd name="adj" fmla="val 4364"/>
            </a:avLst>
          </a:prstGeom>
          <a:solidFill>
            <a:srgbClr val="161B4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spoken answer might sound like: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start with what the function is for, in one sentence. Then I trace it top to bottom: what comes in as arguments, what happens to those values, and what gets returned. I only go line-by-line if something looks surprising — the goal is to show I can navigate code I didn't write, not recite every line.”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READING PYTHON CODE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Like the Real 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2880360"/>
          </a:xfrm>
          <a:prstGeom prst="roundRect">
            <a:avLst>
              <a:gd name="adj" fmla="val 3175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this exact skill on someone else's homework script, out loud, before the real thing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grade your process as much as your conclusion — narrate as you go, don't go silent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fine to say “let me trace through this” — confident narration beats guessing silently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4E2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956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icons/comment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5131613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709160"/>
            <a:ext cx="9235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with Claude: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quiz you on today's topic, answer out loud, then ask it to critique your answer — the same mock-interview pattern we build on in later lessons.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74320"/>
            <a:ext cx="3931920" cy="2377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ons/bug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286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in VS Code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487168" y="30632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errors, breakpoints, and stepping through code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DEBUGGING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Error Messages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9050">
            <a:solidFill>
              <a:srgbClr val="F25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Error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isn't valid Python — caught before it ever runs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91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Error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2628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runs, then breaks mid-execution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6F8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691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Error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7532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fine, but produces the wrong answer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VS Code Debugging Workflow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416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72968" y="4443984"/>
            <a:ext cx="192024" cy="256032"/>
          </a:xfrm>
          <a:prstGeom prst="rightArrow">
            <a:avLst/>
          </a:prstGeom>
          <a:solidFill>
            <a:srgbClr val="C7CCE0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3931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40416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4434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debugger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16168" y="4443984"/>
            <a:ext cx="192024" cy="256032"/>
          </a:xfrm>
          <a:prstGeom prst="rightArrow">
            <a:avLst/>
          </a:prstGeom>
          <a:solidFill>
            <a:srgbClr val="C7CCE0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3931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40416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17920" y="4434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code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59368" y="4443984"/>
            <a:ext cx="192024" cy="256032"/>
          </a:xfrm>
          <a:prstGeom prst="rightArrow">
            <a:avLst/>
          </a:prstGeom>
          <a:solidFill>
            <a:srgbClr val="C7CCE0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0" y="39319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0" y="40416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961120" y="4434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variables while paused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follows with a simple broken script — walk the full loop end to end.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a Broken Script, Live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3931920"/>
          </a:xfrm>
          <a:prstGeom prst="roundRect">
            <a:avLst>
              <a:gd name="adj" fmla="val 2791"/>
            </a:avLst>
          </a:prstGeom>
          <a:solidFill>
            <a:srgbClr val="14172B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350008"/>
            <a:ext cx="164592" cy="164592"/>
          </a:xfrm>
          <a:prstGeom prst="ellipse">
            <a:avLst/>
          </a:prstGeom>
          <a:solidFill>
            <a:srgbClr val="F2555A"/>
          </a:solidFill>
          <a:ln/>
        </p:spPr>
      </p:sp>
      <p:sp>
        <p:nvSpPr>
          <p:cNvPr id="7" name="Shape 5"/>
          <p:cNvSpPr/>
          <p:nvPr/>
        </p:nvSpPr>
        <p:spPr>
          <a:xfrm>
            <a:off x="1344168" y="2350008"/>
            <a:ext cx="164592" cy="164592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8" name="Shape 6"/>
          <p:cNvSpPr/>
          <p:nvPr/>
        </p:nvSpPr>
        <p:spPr>
          <a:xfrm>
            <a:off x="1636776" y="2350008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2585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Code — switch screen share 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9784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5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compound_interest(principal, rate, periods):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principal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range(periods)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total * (1 + rate)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print(compound_interest(1000, 0.05, 10))</a:t>
            </a: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a breakpoint on the for-loop line → F5 to run → step through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screen share to VS Code — fix the missing colon live, then set a breakpoint and step through.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DEBUGGING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ideas show up often in technical screens and behavioral interviews alike.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103120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s/question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2208459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659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syntax error, a runtime error, and a logic error?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8254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962656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questio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306799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82549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breakpoints help you debug faster than scattering print statements?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6850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3822192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s/question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3927531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8503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your process when you hit an unfamiliar traceback.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48640" y="454456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6F8FC"/>
          </a:solidFill>
          <a:ln/>
        </p:spPr>
      </p:sp>
      <p:sp>
        <p:nvSpPr>
          <p:cNvPr id="18" name="Shape 13"/>
          <p:cNvSpPr/>
          <p:nvPr/>
        </p:nvSpPr>
        <p:spPr>
          <a:xfrm>
            <a:off x="713232" y="4681728"/>
            <a:ext cx="438912" cy="43891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s/question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71" y="4787067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4456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an interviewer hand you broken code instead of asking you to write from scratch?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74320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ANSWER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“Walk me through how you'd debug a script that throws an error you don't recognize.”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traceback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1584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9" name="Text 7"/>
          <p:cNvSpPr/>
          <p:nvPr/>
        </p:nvSpPr>
        <p:spPr>
          <a:xfrm>
            <a:off x="4456176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56176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 nearby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34528" y="2286000"/>
            <a:ext cx="3578352" cy="1051560"/>
          </a:xfrm>
          <a:prstGeom prst="roundRect">
            <a:avLst>
              <a:gd name="adj" fmla="val 8696"/>
            </a:avLst>
          </a:prstGeom>
          <a:solidFill>
            <a:srgbClr val="2A3272"/>
          </a:solidFill>
          <a:ln/>
        </p:spPr>
      </p:sp>
      <p:sp>
        <p:nvSpPr>
          <p:cNvPr id="12" name="Text 10"/>
          <p:cNvSpPr/>
          <p:nvPr/>
        </p:nvSpPr>
        <p:spPr>
          <a:xfrm>
            <a:off x="8199120" y="23774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99120" y="2743200"/>
            <a:ext cx="3249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then fix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2514600"/>
          </a:xfrm>
          <a:prstGeom prst="roundRect">
            <a:avLst>
              <a:gd name="adj" fmla="val 4364"/>
            </a:avLst>
          </a:prstGeom>
          <a:solidFill>
            <a:srgbClr val="161B4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spoken answer might sound like: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 I read the traceback from the bottom up — it names the exact line and error type. Then I set a breakpoint just before that line and inspect the variables in play to see which one doesn't hold what I expected. Once I know why, the fix itself is usually small — the diagnosis is the real work.”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DEBUGGING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Like the Real 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2880360"/>
          </a:xfrm>
          <a:prstGeom prst="roundRect">
            <a:avLst>
              <a:gd name="adj" fmla="val 3175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live is one of the most common technical-screen formats — this is a skill worth over-practicing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your assumptions out loud as you check them — interviewers are watching your reasoning, not just the outcome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5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completely fine not to spot the bug instantly — a calm, methodical process reads better than a fast guess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0698480" cy="1234440"/>
          </a:xfrm>
          <a:prstGeom prst="roundRect">
            <a:avLst>
              <a:gd name="adj" fmla="val 7407"/>
            </a:avLst>
          </a:prstGeom>
          <a:solidFill>
            <a:srgbClr val="FFF4E2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956048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0" descr="icons/comment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5131613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709160"/>
            <a:ext cx="9235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with Claude: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quiz you on today's topic, answer out loud, then ask it to critique your answer — the same mock-interview pattern we build on in later lessons.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Post-Class Homework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630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class repo (if not already done in class)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personal branch off main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your assigned broken script — everyone gets a unique bug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794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your fix to your branch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572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(PR) back to main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FFF4E2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48640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mix: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syntax, logic, and runtime errors, all in a simple, financially-themed script (e.g. present value, compound interest). The bug is the challenge — not the code.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icons/rocket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1108253"/>
            <a:ext cx="618134" cy="618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8686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 in Lesson 2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212848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Coding Tool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2468880"/>
            <a:ext cx="10515600" cy="3291840"/>
          </a:xfrm>
          <a:prstGeom prst="roundRect">
            <a:avLst>
              <a:gd name="adj" fmla="val 3333"/>
            </a:avLst>
          </a:prstGeom>
          <a:solidFill>
            <a:srgbClr val="161B45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743200"/>
            <a:ext cx="9784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reviewed before Lesson 2 — your debugging approach shows us where the class is starting from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logging questions as GitHub Issues — patterns across students shape upcoming pacing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agentic coding, prompting well, and the Plan / Code / Review workflow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3383280" cy="502920"/>
          </a:xfrm>
          <a:prstGeom prst="roundRect">
            <a:avLst>
              <a:gd name="adj" fmla="val 50909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IF TIME REMAINS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s/clipboard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79222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14600" y="146304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Material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2532888" y="2286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core lesson — dip into whichever of these is useful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200400"/>
            <a:ext cx="10515600" cy="2926080"/>
          </a:xfrm>
          <a:prstGeom prst="roundRect">
            <a:avLst>
              <a:gd name="adj" fmla="val 3750"/>
            </a:avLst>
          </a:prstGeom>
          <a:solidFill>
            <a:srgbClr val="161B45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474720"/>
            <a:ext cx="9784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Git commands worth knowing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productivity shortcuts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full traceback, end to end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readability &amp; style basics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 prompts (no prep needed)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GIT &amp; GITHUB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More Git Commands Worth Knowing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clone / add / commit / push — these come up constantly in day-to-day use.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6F8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what's changed, staged, or untracked right now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6F8FC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1031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251460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exact line-by-line changes before you commit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commit history — who changed what, and when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338328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6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9319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shelves changes so you can switch branches cleanly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6F8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377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Git which files to never track (secrets, caches, venvs)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480060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6F8FC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9377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--rebase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5080" y="534924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your local commits on top of the latest main, avoiding a merge bubble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DEVELOPER ENVIRONMENT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Productivity Shortcuts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Palette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11880" y="174193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7419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 + Shift + 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0" y="15544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find any VS Code action by typing its name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5973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Multi-cursor editing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2647188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6471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Alt/Option + Click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26480" y="245973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several lines at once — handy for renaming repeated variables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6499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file open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3552444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355244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Ctrl/Cmd + 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336499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straight to any file in the project by typing part of its name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7024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terminal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11880" y="4457700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44577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`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26480" y="42702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inside VS Code without leaving the editor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75504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17550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document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11880" y="5362956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53629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+ Alt + 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26480" y="517550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Auto-formats code to consistent style in one keystroke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DEBUGGING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Full Traceback,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14172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6692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 (most recent call last):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"pricing.py", line 12, in &lt;module&gt;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future_value(principal, rate, years)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"pricing.py", line 7, in future_value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7D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 * (1 + r) ** 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unsupported operand type(s)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**: 'str' and 'int'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86600" y="1508760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bottom-up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line is the actual error — start there, not at the top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2587752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26791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&amp; 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2999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exactly where execution stopped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86600" y="3666744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37581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40782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TypeError, KeyError, ValueError — each hints at a different class of bug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86600" y="4745736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48371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chain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51572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above show how execution got there — useful when the bug is upstream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PYTHON 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Readability &amp; Style Basics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that's easy to read is easy to debug, review, and hand off — style is not just decoration.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66360" cy="1554480"/>
          </a:xfrm>
          <a:prstGeom prst="roundRect">
            <a:avLst>
              <a:gd name="adj" fmla="val 5882"/>
            </a:avLst>
          </a:prstGeom>
          <a:solidFill>
            <a:srgbClr val="F6F8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6712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descriptive names: bond_price, not bp or 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166360" cy="1554480"/>
          </a:xfrm>
          <a:prstGeom prst="roundRect">
            <a:avLst>
              <a:gd name="adj" fmla="val 5882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16712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space around operators and after commas: a = b + c, not a=b+c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166360" cy="1554480"/>
          </a:xfrm>
          <a:prstGeom prst="roundRect">
            <a:avLst>
              <a:gd name="adj" fmla="val 5882"/>
            </a:avLst>
          </a:prstGeom>
          <a:solidFill>
            <a:srgbClr val="F6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90448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length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lines under ~80–88 characters — split long expressions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3703320"/>
            <a:ext cx="5166360" cy="1554480"/>
          </a:xfrm>
          <a:prstGeom prst="roundRect">
            <a:avLst>
              <a:gd name="adj" fmla="val 5882"/>
            </a:avLst>
          </a:prstGeom>
          <a:solidFill>
            <a:srgbClr val="F6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904488"/>
            <a:ext cx="502920" cy="82296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023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Docstrings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443484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summary at the top of a function explains its purpose to future readers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this is the spirit of PEP 8, Python's official style guide.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OPEN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for Extra Time — No Prep Needed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1B4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97964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icons/comment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579" y="2103303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 most about Git today — anything different from what you expected?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843784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1B45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104388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0" name="Image 1" descr="icons/comments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79" y="320972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43784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think AI will help your workflow most? Where might it get in the way?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95020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1B45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4210812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2" descr="icons/comments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79" y="4316151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950208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to explain a virtual environment to a non-technical manager, what would you say?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5056632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61B45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5317236"/>
            <a:ext cx="438912" cy="43891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icons/comments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79" y="5422575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056632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thing from today you want to make sure to log as a GitHub Issue before Lesson 2?</a:t>
            </a:r>
            <a:endParaRPr lang="en-US" sz="14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spc="200">
                <a:solidFill>
                  <a:srgbClr val="F2A93B"/>
                </a:solidFill>
                <a:latin typeface="Calibri"/>
              </a:rPr>
              <a:t>MEET YOUR INSTRUCTOR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Madison Rusch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A5F73"/>
                </a:solidFill>
                <a:latin typeface="Calibri"/>
              </a:rPr>
              <a:t>Sr. Software Engineer at Garda Capital Partners — a fixed-income hedge fund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383280" cy="416052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31620" y="2537460"/>
            <a:ext cx="1417320" cy="14173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2871215"/>
            <a:ext cx="749808" cy="749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6052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Madison Rusch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9028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 spc="180">
                <a:solidFill>
                  <a:srgbClr val="F2A93B"/>
                </a:solidFill>
                <a:latin typeface="Calibri"/>
              </a:rPr>
              <a:t>YOUR INSTRUCTOR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CADCFC"/>
                </a:solidFill>
                <a:latin typeface="Calibri"/>
              </a:rPr>
              <a:t>Financial mathematics meets production software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965960"/>
            <a:ext cx="7528560" cy="12801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</a:ln>
          <a:effectLst/>
          <a:effectLst>
            <a:outerShdw blurRad="101600" dist="38100" dir="5400000" rotWithShape="0">
              <a:srgbClr val="1E2761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61688" y="2194559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2377439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21808" y="2148840"/>
            <a:ext cx="6001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60">
                <a:solidFill>
                  <a:srgbClr val="F2A93B"/>
                </a:solidFill>
                <a:latin typeface="Calibri"/>
              </a:rPr>
              <a:t>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386584"/>
            <a:ext cx="6001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St. Lawrence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761488"/>
            <a:ext cx="6001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5F73"/>
                </a:solidFill>
                <a:latin typeface="Calibri"/>
              </a:rPr>
              <a:t>B.S., Mathematics &amp; Computer Science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497579"/>
            <a:ext cx="7528560" cy="12801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</a:ln>
          <a:effectLst/>
          <a:effectLst>
            <a:outerShdw blurRad="101600" dist="38100" dir="5400000" rotWithShape="0">
              <a:srgbClr val="1E2761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61688" y="3726179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3909059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21808" y="3680459"/>
            <a:ext cx="6001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60">
                <a:solidFill>
                  <a:srgbClr val="F2A93B"/>
                </a:solidFill>
                <a:latin typeface="Calibri"/>
              </a:rPr>
              <a:t>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918204"/>
            <a:ext cx="6001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University of Chicago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4293107"/>
            <a:ext cx="6001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5F73"/>
                </a:solidFill>
                <a:latin typeface="Calibri"/>
              </a:rPr>
              <a:t>M.S., Financial Mathematics  ·  Class of 2023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5029200"/>
            <a:ext cx="7528560" cy="12801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</a:ln>
          <a:effectLst/>
          <a:effectLst>
            <a:outerShdw blurRad="101600" dist="38100" dir="5400000" rotWithShape="0">
              <a:srgbClr val="1E2761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61688" y="5257800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_bri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5440680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21808" y="5212080"/>
            <a:ext cx="6001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60">
                <a:solidFill>
                  <a:srgbClr val="F2A93B"/>
                </a:solidFill>
                <a:latin typeface="Calibri"/>
              </a:rP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5449824"/>
            <a:ext cx="6001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Garda Capital Partners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5824728"/>
            <a:ext cx="60015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5F73"/>
                </a:solidFill>
                <a:latin typeface="Calibri"/>
              </a:rPr>
              <a:t>Sr. Software Engineer  ·  Fixed-income hedge fund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2026-07-20T23:09:02Z</dcterms:created>
  <dcterms:modified xsi:type="dcterms:W3CDTF">2026-07-20T23:09:02Z</dcterms:modified>
</cp:coreProperties>
</file>
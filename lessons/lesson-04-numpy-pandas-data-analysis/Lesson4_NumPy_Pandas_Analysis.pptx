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image" Target="../media/image-19-1.png"/><Relationship Id="rId4" Type="http://schemas.openxmlformats.org/officeDocument/2006/relationships/image" Target="../media/image-1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1.png"/><Relationship Id="rId3" Type="http://schemas.openxmlformats.org/officeDocument/2006/relationships/image" Target="../media/image-24-1.png"/><Relationship Id="rId4" Type="http://schemas.openxmlformats.org/officeDocument/2006/relationships/image" Target="../media/image-24-1.png"/><Relationship Id="rId5" Type="http://schemas.openxmlformats.org/officeDocument/2006/relationships/image" Target="../media/image-24-1.png"/><Relationship Id="rId6" Type="http://schemas.openxmlformats.org/officeDocument/2006/relationships/image" Target="../media/image-24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1.png"/><Relationship Id="rId3" Type="http://schemas.openxmlformats.org/officeDocument/2006/relationships/image" Target="../media/image-25-1.png"/><Relationship Id="rId4" Type="http://schemas.openxmlformats.org/officeDocument/2006/relationships/image" Target="../media/image-25-1.png"/><Relationship Id="rId5" Type="http://schemas.openxmlformats.org/officeDocument/2006/relationships/image" Target="../media/image-25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MATHEMATICS PYTHON COURSE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NumPy, Pandas &amp; Data Analysis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B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Live Session   •   Virtual Lecture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555480" y="4297680"/>
            <a:ext cx="1554480" cy="15544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7" name="Image 0" descr="ic_cal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0" y="468630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Load the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the pipeline where Lesson 3 left off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" y="205740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_rot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20370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488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Lesson 3 Homework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5328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scraped datasets — what issues came up along the way?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" y="338328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_down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52958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4747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the Class CSV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38587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starting point is the data you scraped last time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" y="470916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_list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85546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8006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Plan / Code / Review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17320" y="51846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the working method — plan first, let AI code, review every line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20040"/>
            <a:ext cx="37764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A3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00100" y="2308860"/>
            <a:ext cx="1417320" cy="14173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_cal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663190"/>
            <a:ext cx="708660" cy="7086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3317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— The Foundation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542032" y="32461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array math beats plain Python lists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NUMPY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NumPy Exists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and precision that plain Python lists can't match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" y="21031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_bol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24942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945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5786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operations run in optimized C — no slow Python loop overhead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" y="338328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_cu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52958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4747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Typed and fixed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38587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is the same type, stored compactly and predictably in memory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" y="46634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_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80974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7548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for FinMath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17320" y="51389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pricing and risk calculations stay fast and numerically precise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NUMPY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 vs Python Lists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468880"/>
          </a:xfrm>
          <a:prstGeom prst="roundRect">
            <a:avLst>
              <a:gd name="adj" fmla="val 2222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933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List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mix of types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Looped element-by-element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but slow at scale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91072" y="1691640"/>
            <a:ext cx="5349240" cy="2468880"/>
          </a:xfrm>
          <a:prstGeom prst="roundRect">
            <a:avLst>
              <a:gd name="adj" fmla="val 2222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19202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_cu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0574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05472" y="19933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Array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56832" y="278892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type, fixed size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— no loops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memory-efficient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434840"/>
            <a:ext cx="11094415" cy="1097280"/>
          </a:xfrm>
          <a:prstGeom prst="roundRect">
            <a:avLst>
              <a:gd name="adj" fmla="val 2500"/>
            </a:avLst>
          </a:prstGeom>
          <a:solidFill>
            <a:srgbClr val="1B1E2B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690872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2"/>
          <p:cNvSpPr/>
          <p:nvPr/>
        </p:nvSpPr>
        <p:spPr>
          <a:xfrm>
            <a:off x="1097280" y="4690872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3"/>
          <p:cNvSpPr/>
          <p:nvPr/>
        </p:nvSpPr>
        <p:spPr>
          <a:xfrm>
            <a:off x="1371600" y="4690872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4"/>
          <p:cNvSpPr/>
          <p:nvPr/>
        </p:nvSpPr>
        <p:spPr>
          <a:xfrm>
            <a:off x="1005840" y="5148072"/>
            <a:ext cx="102714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prices * 1.05      # scales every element at once — no loop needed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NUMPY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943600" cy="3657600"/>
          </a:xfrm>
          <a:prstGeom prst="roundRect">
            <a:avLst>
              <a:gd name="adj" fmla="val 750"/>
            </a:avLst>
          </a:prstGeom>
          <a:solidFill>
            <a:srgbClr val="1B1E2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10512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810512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810512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67712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np.array([100, 101, 102])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a[1:]        # slice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* 1.05     # broadcast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a.mean()     # aggregate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np.diff(a)   # differences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766560" y="1737360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66560" y="2048256"/>
            <a:ext cx="4876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typed array from data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766560" y="2624328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6560" y="2935224"/>
            <a:ext cx="4876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sub-ranges, just like lists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66560" y="3511296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66560" y="3822192"/>
            <a:ext cx="4876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math to every element at once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66560" y="4398264"/>
            <a:ext cx="4876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66560" y="4709160"/>
            <a:ext cx="4876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sum, std across the array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NUMPY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You Might Hear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these out loud — they surface in technical and behavioral screens alike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318004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579" y="2461199"/>
            <a:ext cx="243962" cy="243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4028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a NumPy array and a Python list?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172968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6384" y="3342132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79" y="3485327"/>
            <a:ext cx="243962" cy="243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264408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vectorization, and why is it faster than a loop?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4197096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86384" y="4366260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_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579" y="4509455"/>
            <a:ext cx="243962" cy="2439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288536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NumPy require every element to be the same type?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5221224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86384" y="5390388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_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579" y="5533583"/>
            <a:ext cx="243962" cy="2439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00200" y="5312664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reach for NumPy over plain Python?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20040"/>
            <a:ext cx="37764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A3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00100" y="2308860"/>
            <a:ext cx="1417320" cy="14173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663190"/>
            <a:ext cx="708660" cy="7086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3317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— Working with Data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542032" y="32461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workhorse for real financial data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PANDAS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DataFrame?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with labeled rows and columns — a spreadsheet you can code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" y="21031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24942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945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Rows, columns, and an index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5786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is a typed series; the index labels the rows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" y="338328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_chart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52958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4747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time series or pricing table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38587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down the index, instruments across the columns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" y="46634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_down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80974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7548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straight from your CSV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17320" y="51389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 turns Lesson 3's file into a DataFrame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PANDAS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Pandas Operations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handful of moves that cover most day-to-day work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64328" cy="91440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40280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9689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df.head(), df.info(), df.describe()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2103120"/>
            <a:ext cx="5364328" cy="91440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2240280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&amp; filter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53048" y="259689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df[df.yield &gt; 4]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364328" cy="91440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337560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69417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df.dropna(), df.fillna(0)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78728" y="3200400"/>
            <a:ext cx="5364328" cy="91440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3048" y="3337560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Calculated columns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53048" y="369417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df["chg"] = df.yield.diff()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5364328" cy="91440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434840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&amp; aggregate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79145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df.groupby("tenor").mean()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78728" y="4297680"/>
            <a:ext cx="5364328" cy="91440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53048" y="4434840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53048" y="479145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df.sort_values("yield")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PLAN / CODE /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CSV to Insight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3977640"/>
          </a:xfrm>
          <a:prstGeom prst="roundRect">
            <a:avLst>
              <a:gd name="adj" fmla="val 690"/>
            </a:avLst>
          </a:prstGeom>
          <a:solidFill>
            <a:srgbClr val="1B1E2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64792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764792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764792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21992"/>
            <a:ext cx="1027145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pd.read_csv("yields.csv")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clean, then enrich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df.dropna()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df["daily_chg"] = df["yield"].diff()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Claude for each transformation — review what every line does before you move 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PANDAS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You Might Hear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these out loud — they surface in technical and behavioral screens alike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318004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579" y="2461199"/>
            <a:ext cx="243962" cy="243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4028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DataFrame, and when would you use one?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172968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6384" y="3342132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79" y="3485327"/>
            <a:ext cx="243962" cy="243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264408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handle missing data in Pandas?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4197096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86384" y="4366260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_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579" y="4509455"/>
            <a:ext cx="243962" cy="2439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288536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select only the rows that meet a condition?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5221224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86384" y="5390388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_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579" y="5533583"/>
            <a:ext cx="243962" cy="2439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00200" y="5312664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a Series and a DataFrame?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51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HALFWAY POINT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09590" y="1828800"/>
            <a:ext cx="1371600" cy="13716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_coff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2490" y="21717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3832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a Break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371600" y="434340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Halfway there — after the break we analyze the data and turn it into a chart worth reading.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0" y="50749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~10 minutes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20040"/>
            <a:ext cx="37764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A3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00100" y="2308860"/>
            <a:ext cx="1417320" cy="14173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_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663190"/>
            <a:ext cx="708660" cy="7086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3317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with Pandas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542032" y="32461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clean table into answers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Meaningful Calculations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clean and reusable — wrap repeated logic in functions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" y="196596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_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11226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57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Percentage change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4414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df["yield"].pct_change() — day-over-day moves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" y="310896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_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25526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200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averages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35844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df["yield"].rolling(5).mean() — smooth out the noise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" y="425196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_sw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39826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343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17320" y="47274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 between instruments, min / max, and ranking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5486400"/>
            <a:ext cx="11094415" cy="841248"/>
          </a:xfrm>
          <a:prstGeom prst="roundRect">
            <a:avLst>
              <a:gd name="adj" fmla="val 6522"/>
            </a:avLst>
          </a:prstGeom>
          <a:solidFill>
            <a:srgbClr val="FBEEEE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54380" y="565556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ic_wa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93" y="5761177"/>
            <a:ext cx="291694" cy="2916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553212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precision, again:  </a:t>
            </a:r>
            <a:pPr indent="0" marL="0"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 still bites in aggregates — watch it when numbers feed real financial decisions.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20040"/>
            <a:ext cx="37764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A3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00100" y="2308860"/>
            <a:ext cx="1417320" cy="14173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_chartc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663190"/>
            <a:ext cx="708660" cy="7086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3317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542032" y="32461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enough matplotlib to make the data speak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VISUALIZATION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Story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943600" cy="3383280"/>
          </a:xfrm>
          <a:prstGeom prst="roundRect">
            <a:avLst>
              <a:gd name="adj" fmla="val 811"/>
            </a:avLst>
          </a:prstGeom>
          <a:solidFill>
            <a:srgbClr val="1B1E2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10512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810512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810512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67712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df["yield"].plot()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plt.title("Treasury Yields")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plt.xlabel("Date")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plt.ylabel("Yield %")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89420" y="16687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0" descr="ic_chartc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0" y="1794510"/>
            <a:ext cx="251460" cy="2514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52360" y="1737360"/>
            <a:ext cx="4190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 the analyzed series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452360" y="2066544"/>
            <a:ext cx="4190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line or bar beats a wall of numbers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789420" y="27660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1" descr="ic_inf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150" y="289179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2834640"/>
            <a:ext cx="4190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everything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7452360" y="3163824"/>
            <a:ext cx="4190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and axis labels make it readable by anyone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789420" y="38633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ic_comme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150" y="398907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452360" y="3931920"/>
            <a:ext cx="4190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what it tells you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7452360" y="4261104"/>
            <a:ext cx="4190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 could this chart actually inform?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20040"/>
            <a:ext cx="37764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A3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800100" y="2308860"/>
            <a:ext cx="1417320" cy="14173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ic_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663190"/>
            <a:ext cx="708660" cy="7086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3317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Angle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542032" y="32461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concepts, interview-ready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TODAY'S TOPICS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You Might Hear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class first — then use Claude to model a clean answer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318004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579" y="2461199"/>
            <a:ext cx="243962" cy="243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4028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a NumPy array and a Python list?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172968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6384" y="3342132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79" y="3485327"/>
            <a:ext cx="243962" cy="243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264408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DataFrame, and when would you use one?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4197096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86384" y="4366260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_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579" y="4509455"/>
            <a:ext cx="243962" cy="2439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288536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handle missing data in Pandas?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5221224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86384" y="5390388"/>
            <a:ext cx="530352" cy="53035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_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579" y="5533583"/>
            <a:ext cx="243962" cy="2439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00200" y="5312664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vectorization, and why is it faster than a loop?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ANSWER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Answering Clearly Under Pressure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Concise, concrete, and grounded in what you actually built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" y="21031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_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24942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945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Answer, then justify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5786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it plainly first, then give the one-line why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" y="338328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_chart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52958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4747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concrete example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38587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the pipeline you built: scrape → analyze → visualize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" y="46634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_usert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80974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7548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Rehearse with Claude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17320" y="51389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Mock-interview yourself on NumPy and Pandas, then critique together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73736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ic_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883664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288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Homework: Extend Your Analysis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2128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more calculation, update the chart, and summarize the findings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" y="310896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ic_rot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25526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200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/ Code / Review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35844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where AI helped and where you had to step in and correct it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1792" y="448056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ic_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62686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5720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Is Complete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4956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→ clean → analyze → visualize — you've built the whole arc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— IF TIME REMAINS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Quick Reference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moves you'll reach for again and again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64328" cy="960120"/>
          </a:xfrm>
          <a:prstGeom prst="roundRect">
            <a:avLst>
              <a:gd name="adj" fmla="val 571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49424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 CSV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pd.read_csv("file.csv")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2103120"/>
            <a:ext cx="5364328" cy="960120"/>
          </a:xfrm>
          <a:prstGeom prst="roundRect">
            <a:avLst>
              <a:gd name="adj" fmla="val 571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2249424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Peek at 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53048" y="260604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df.head(10)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5364328" cy="960120"/>
          </a:xfrm>
          <a:prstGeom prst="roundRect">
            <a:avLst>
              <a:gd name="adj" fmla="val 571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392424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rows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74904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df[df.col &gt; 0]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78728" y="3246120"/>
            <a:ext cx="5364328" cy="960120"/>
          </a:xfrm>
          <a:prstGeom prst="roundRect">
            <a:avLst>
              <a:gd name="adj" fmla="val 571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3048" y="3392424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column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53048" y="374904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df["x"] = df.a * df.b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5364328" cy="960120"/>
          </a:xfrm>
          <a:prstGeom prst="roundRect">
            <a:avLst>
              <a:gd name="adj" fmla="val 571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535424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&amp; aggregate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df.groupby("k").mean()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78728" y="4389120"/>
            <a:ext cx="5364328" cy="960120"/>
          </a:xfrm>
          <a:prstGeom prst="roundRect">
            <a:avLst>
              <a:gd name="adj" fmla="val 5714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53048" y="4535424"/>
            <a:ext cx="481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missing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53048" y="489204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df.fillna(0)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— THE BIG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Lessons 3 and 4, end to end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487168" cy="2651760"/>
          </a:xfrm>
          <a:prstGeom prst="roundRect">
            <a:avLst>
              <a:gd name="adj" fmla="val 220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35024" y="269748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_spi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3624" y="29260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7490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Scrape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4187952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raw data off the web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62173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417722" y="2377440"/>
            <a:ext cx="2487168" cy="2651760"/>
          </a:xfrm>
          <a:prstGeom prst="roundRect">
            <a:avLst>
              <a:gd name="adj" fmla="val 220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04106" y="269748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ic_b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706" y="29260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54882" y="37490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646322" y="4187952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and messy values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931256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6286805" y="2377440"/>
            <a:ext cx="2487168" cy="2651760"/>
          </a:xfrm>
          <a:prstGeom prst="roundRect">
            <a:avLst>
              <a:gd name="adj" fmla="val 220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73189" y="269748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2" descr="ic_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789" y="29260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23965" y="37490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515405" y="4187952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change, averages, spreads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800338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9155887" y="2377440"/>
            <a:ext cx="2487168" cy="2651760"/>
          </a:xfrm>
          <a:prstGeom prst="roundRect">
            <a:avLst>
              <a:gd name="adj" fmla="val 2206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942271" y="269748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3" descr="ic_chartc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0871" y="292608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93047" y="37490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9384487" y="4187952"/>
            <a:ext cx="202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into a chart that informs a decision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ANGLE — RAPID-FIRE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You Might Hear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reps — quick answers, no notes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414016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272" y="2547336"/>
            <a:ext cx="227137" cy="2271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40280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df.describe() show you?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78728" y="2148840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89040" y="2414016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359" y="2547336"/>
            <a:ext cx="227137" cy="2271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93128" y="2240280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drop rows with missing values?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355848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58952" y="3621024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_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72" y="3754344"/>
            <a:ext cx="227137" cy="22713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447288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broadcasting mean in NumPy?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278728" y="3355848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89040" y="3621024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_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359" y="3754344"/>
            <a:ext cx="227137" cy="22713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93128" y="3447288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add a calculated column?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4562856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58952" y="4828032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4" descr="ic_ques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272" y="4961352"/>
            <a:ext cx="227137" cy="22713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63040" y="4654296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groupby() actually do?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278728" y="4562856"/>
            <a:ext cx="5364328" cy="1024128"/>
          </a:xfrm>
          <a:prstGeom prst="roundRect">
            <a:avLst>
              <a:gd name="adj" fmla="val 5357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489040" y="4828032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5" descr="ic_ques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359" y="4961352"/>
            <a:ext cx="227137" cy="22713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93128" y="4654296"/>
            <a:ext cx="4221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 labeling chart axes?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— IF TIME REMAINS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Data Gotchas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3502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traps that quietly corrupt an analysis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03704"/>
            <a:ext cx="457200" cy="457200"/>
          </a:xfrm>
          <a:prstGeom prst="ellipse">
            <a:avLst/>
          </a:prstGeom>
          <a:solidFill>
            <a:srgbClr val="FDEBD0"/>
          </a:solidFill>
          <a:ln/>
        </p:spPr>
      </p:sp>
      <p:pic>
        <p:nvPicPr>
          <p:cNvPr id="7" name="Image 0" descr="ic_w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318004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1945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rounding in aggregates — </a:t>
            </a:r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 and means drift — round only at the end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889504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990088"/>
            <a:ext cx="457200" cy="457200"/>
          </a:xfrm>
          <a:prstGeom prst="ellipse">
            <a:avLst/>
          </a:prstGeom>
          <a:solidFill>
            <a:srgbClr val="FDEBD0"/>
          </a:solidFill>
          <a:ln/>
        </p:spPr>
      </p:sp>
      <p:pic>
        <p:nvPicPr>
          <p:cNvPr id="11" name="Image 1" descr="ic_wa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310438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980944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SettingWithCopyWarning — </a:t>
            </a:r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indexing can update a copy, not your data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675888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3776472"/>
            <a:ext cx="457200" cy="457200"/>
          </a:xfrm>
          <a:prstGeom prst="ellipse">
            <a:avLst/>
          </a:prstGeom>
          <a:solidFill>
            <a:srgbClr val="FDEBD0"/>
          </a:solidFill>
          <a:ln/>
        </p:spPr>
      </p:sp>
      <p:pic>
        <p:nvPicPr>
          <p:cNvPr id="15" name="Image 2" descr="ic_wa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890772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767328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NaNs — </a:t>
            </a:r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quietly skew means and counts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4462272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31520" y="4562856"/>
            <a:ext cx="457200" cy="457200"/>
          </a:xfrm>
          <a:prstGeom prst="ellipse">
            <a:avLst/>
          </a:prstGeom>
          <a:solidFill>
            <a:srgbClr val="FDEBD0"/>
          </a:solidFill>
          <a:ln/>
        </p:spPr>
      </p:sp>
      <p:pic>
        <p:nvPicPr>
          <p:cNvPr id="19" name="Image 3" descr="ic_wa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4677156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553712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types in a column — </a:t>
            </a:r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stray string turns a number column into text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5248656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6F8FC"/>
          </a:solidFill>
          <a:ln w="12700">
            <a:solidFill>
              <a:srgbClr val="E2E7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31520" y="5349240"/>
            <a:ext cx="457200" cy="457200"/>
          </a:xfrm>
          <a:prstGeom prst="ellipse">
            <a:avLst/>
          </a:prstGeom>
          <a:solidFill>
            <a:srgbClr val="FDEBD0"/>
          </a:solidFill>
          <a:ln/>
        </p:spPr>
      </p:sp>
      <p:pic>
        <p:nvPicPr>
          <p:cNvPr id="23" name="Image 4" descr="ic_war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5463540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71600" y="5340096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Off-by-one rolling windows — </a:t>
            </a:r>
            <a:pPr indent="0" marL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rolling(5) needs 5 rows before it returns a value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2026-07-26T15:54:30Z</dcterms:created>
  <dcterms:modified xsi:type="dcterms:W3CDTF">2026-07-26T15:54:30Z</dcterms:modified>
</cp:coreProperties>
</file>